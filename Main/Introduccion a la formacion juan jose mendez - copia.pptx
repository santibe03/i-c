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Montserrat Bold" panose="020B0604020202020204" charset="0"/>
      <p:bold r:id="rId13"/>
    </p:embeddedFont>
    <p:embeddedFont>
      <p:font typeface="Montserrat Medium" panose="00000600000000000000" pitchFamily="2" charset="0"/>
      <p:regular r:id="rId14"/>
    </p:embeddedFont>
  </p:embeddedFontLst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C24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4" d="100"/>
          <a:sy n="54" d="100"/>
        </p:scale>
        <p:origin x="94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0965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214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243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214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243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214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243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214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243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214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243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214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243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214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243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214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243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214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243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214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243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49260" y="2470071"/>
            <a:ext cx="7645479" cy="142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Introducción a la Formación en el SENA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49260" y="4218265"/>
            <a:ext cx="7645479" cy="34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Guía para nuevos aprendices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749260" y="4801553"/>
            <a:ext cx="7645479" cy="34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749260" y="5400913"/>
            <a:ext cx="342543" cy="342543"/>
          </a:xfrm>
          <a:prstGeom prst="roundRect">
            <a:avLst>
              <a:gd name="adj" fmla="val 26691789"/>
            </a:avLst>
          </a:prstGeom>
          <a:noFill/>
          <a:ln w="7620">
            <a:solidFill>
              <a:srgbClr val="4D4D5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880" y="5408533"/>
            <a:ext cx="327303" cy="32730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98840" y="5384840"/>
            <a:ext cx="2121337" cy="374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100" b="1" dirty="0">
                <a:solidFill>
                  <a:srgbClr val="F4CAB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by Juan Padilla</a:t>
            </a:r>
            <a:endParaRPr lang="en-US" sz="2100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D904EF3-5C7B-CED5-CBCE-2738D68E9C01}"/>
              </a:ext>
            </a:extLst>
          </p:cNvPr>
          <p:cNvSpPr/>
          <p:nvPr/>
        </p:nvSpPr>
        <p:spPr>
          <a:xfrm>
            <a:off x="502024" y="5384840"/>
            <a:ext cx="3980329" cy="639442"/>
          </a:xfrm>
          <a:prstGeom prst="rect">
            <a:avLst/>
          </a:prstGeom>
          <a:solidFill>
            <a:srgbClr val="5C2438"/>
          </a:solidFill>
          <a:ln>
            <a:solidFill>
              <a:srgbClr val="5C24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028" name="Picture 4" descr="Servicio Nacional de Aprendizaje | SENA">
            <a:extLst>
              <a:ext uri="{FF2B5EF4-FFF2-40B4-BE49-F238E27FC236}">
                <a16:creationId xmlns:a16="http://schemas.microsoft.com/office/drawing/2014/main" id="{6BA55B7A-77FA-0A47-2C72-DF53577E06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1975" y="1201271"/>
            <a:ext cx="5582384" cy="5457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EAA15CC7-CE82-5433-7B28-7081D4251C1C}"/>
              </a:ext>
            </a:extLst>
          </p:cNvPr>
          <p:cNvSpPr/>
          <p:nvPr/>
        </p:nvSpPr>
        <p:spPr>
          <a:xfrm>
            <a:off x="10490955" y="7468553"/>
            <a:ext cx="3980329" cy="639442"/>
          </a:xfrm>
          <a:prstGeom prst="rect">
            <a:avLst/>
          </a:prstGeom>
          <a:solidFill>
            <a:srgbClr val="5C2438"/>
          </a:solidFill>
          <a:ln>
            <a:solidFill>
              <a:srgbClr val="5C24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67628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9260" y="4136469"/>
            <a:ext cx="12978051" cy="713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¿Qué es la Formación Profesional Integral (FPI)?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49260" y="5171123"/>
            <a:ext cx="6458903" cy="1598176"/>
          </a:xfrm>
          <a:prstGeom prst="roundRect">
            <a:avLst>
              <a:gd name="adj" fmla="val 2010"/>
            </a:avLst>
          </a:prstGeom>
          <a:solidFill>
            <a:srgbClr val="4D1529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Text 2"/>
          <p:cNvSpPr/>
          <p:nvPr/>
        </p:nvSpPr>
        <p:spPr>
          <a:xfrm>
            <a:off x="963335" y="5385197"/>
            <a:ext cx="2854643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Definición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963335" y="5870377"/>
            <a:ext cx="6030754" cy="684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Formación que integra habilidades técnicas, desarrollo humano y valores.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7422237" y="5171123"/>
            <a:ext cx="6458903" cy="1598176"/>
          </a:xfrm>
          <a:prstGeom prst="roundRect">
            <a:avLst>
              <a:gd name="adj" fmla="val 2010"/>
            </a:avLst>
          </a:prstGeom>
          <a:solidFill>
            <a:srgbClr val="4D1529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5"/>
          <p:cNvSpPr/>
          <p:nvPr/>
        </p:nvSpPr>
        <p:spPr>
          <a:xfrm>
            <a:off x="7636312" y="5385197"/>
            <a:ext cx="2854643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Objetivo principal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636312" y="5870377"/>
            <a:ext cx="6030754" cy="684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Formar personas competentes y éticas para el mercado laboral.</a:t>
            </a:r>
            <a:endParaRPr lang="en-US" sz="1650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966B034B-57C7-C0B3-5DB3-3FDF668CBF09}"/>
              </a:ext>
            </a:extLst>
          </p:cNvPr>
          <p:cNvSpPr/>
          <p:nvPr/>
        </p:nvSpPr>
        <p:spPr>
          <a:xfrm>
            <a:off x="10490955" y="7468553"/>
            <a:ext cx="3980329" cy="639442"/>
          </a:xfrm>
          <a:prstGeom prst="rect">
            <a:avLst/>
          </a:prstGeom>
          <a:solidFill>
            <a:srgbClr val="5C2438"/>
          </a:solidFill>
          <a:ln>
            <a:solidFill>
              <a:srgbClr val="5C24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67628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9260" y="3964186"/>
            <a:ext cx="11734324" cy="713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Características de la Formación en el SENA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49260" y="4998839"/>
            <a:ext cx="481727" cy="481727"/>
          </a:xfrm>
          <a:prstGeom prst="roundRect">
            <a:avLst>
              <a:gd name="adj" fmla="val 6667"/>
            </a:avLst>
          </a:prstGeom>
          <a:solidFill>
            <a:srgbClr val="4D1529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Text 2"/>
          <p:cNvSpPr/>
          <p:nvPr/>
        </p:nvSpPr>
        <p:spPr>
          <a:xfrm>
            <a:off x="1445062" y="5072420"/>
            <a:ext cx="3503176" cy="713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Formación teórico-práctica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445062" y="5914430"/>
            <a:ext cx="3503176" cy="684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Equilibrio entre teoría y práctica para aprendizaje efectivo.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5215771" y="4998839"/>
            <a:ext cx="481727" cy="481727"/>
          </a:xfrm>
          <a:prstGeom prst="roundRect">
            <a:avLst>
              <a:gd name="adj" fmla="val 6667"/>
            </a:avLst>
          </a:prstGeom>
          <a:solidFill>
            <a:srgbClr val="4D1529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5"/>
          <p:cNvSpPr/>
          <p:nvPr/>
        </p:nvSpPr>
        <p:spPr>
          <a:xfrm>
            <a:off x="5911572" y="5072420"/>
            <a:ext cx="3298031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Competencias laborales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911572" y="5557599"/>
            <a:ext cx="3503176" cy="684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Enfoque en habilidades para el desempeño profesional real.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9682282" y="4998839"/>
            <a:ext cx="481727" cy="481727"/>
          </a:xfrm>
          <a:prstGeom prst="roundRect">
            <a:avLst>
              <a:gd name="adj" fmla="val 6667"/>
            </a:avLst>
          </a:prstGeom>
          <a:solidFill>
            <a:srgbClr val="4D1529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8"/>
          <p:cNvSpPr/>
          <p:nvPr/>
        </p:nvSpPr>
        <p:spPr>
          <a:xfrm>
            <a:off x="10378083" y="5072420"/>
            <a:ext cx="3503176" cy="713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Desarrollo humano integral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378083" y="5914430"/>
            <a:ext cx="3503176" cy="1027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Formación con valores, responsabilidad y habilidades sociales.</a:t>
            </a:r>
            <a:endParaRPr lang="en-US" sz="1650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629BDD72-8F34-75EE-3AC8-2574A03827C4}"/>
              </a:ext>
            </a:extLst>
          </p:cNvPr>
          <p:cNvSpPr/>
          <p:nvPr/>
        </p:nvSpPr>
        <p:spPr>
          <a:xfrm>
            <a:off x="10490955" y="7468553"/>
            <a:ext cx="3980329" cy="639442"/>
          </a:xfrm>
          <a:prstGeom prst="rect">
            <a:avLst/>
          </a:prstGeom>
          <a:solidFill>
            <a:srgbClr val="5C2438"/>
          </a:solidFill>
          <a:ln>
            <a:solidFill>
              <a:srgbClr val="5C24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260" y="2937391"/>
            <a:ext cx="5709404" cy="713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Enfoque Pedagógico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49260" y="4186118"/>
            <a:ext cx="2854643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Aprender haciendo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49260" y="4757023"/>
            <a:ext cx="6304836" cy="34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Prácticas en talleres, laboratorios y proyectos reales.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583924" y="4186118"/>
            <a:ext cx="2854643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Trabajo colaborativo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83924" y="4757023"/>
            <a:ext cx="6304836" cy="34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Fomento del trabajo en equipo y habilidades sociales.</a:t>
            </a:r>
            <a:endParaRPr lang="en-US" sz="1650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4A52F05-D871-EB7F-A735-F0A2E8A8B834}"/>
              </a:ext>
            </a:extLst>
          </p:cNvPr>
          <p:cNvSpPr/>
          <p:nvPr/>
        </p:nvSpPr>
        <p:spPr>
          <a:xfrm>
            <a:off x="10490955" y="7468553"/>
            <a:ext cx="3980329" cy="639442"/>
          </a:xfrm>
          <a:prstGeom prst="rect">
            <a:avLst/>
          </a:prstGeom>
          <a:solidFill>
            <a:srgbClr val="5C2438"/>
          </a:solidFill>
          <a:ln>
            <a:solidFill>
              <a:srgbClr val="5C24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260" y="1245870"/>
            <a:ext cx="11411783" cy="713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Componentes de la Propuesta Pedagógica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841421" y="2871192"/>
            <a:ext cx="2854643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Antropológico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49260" y="3356372"/>
            <a:ext cx="3946803" cy="684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El ser humano en el centro, con desarrollo integral.</a:t>
            </a:r>
            <a:endParaRPr lang="en-US" sz="16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7175" y="2387560"/>
            <a:ext cx="4596051" cy="459605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17478" y="3347859"/>
            <a:ext cx="320278" cy="400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25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1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9934337" y="2871192"/>
            <a:ext cx="2854643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Axiológico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9934337" y="3356372"/>
            <a:ext cx="3946803" cy="684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Educación basada en ética, respeto y justicia.</a:t>
            </a:r>
            <a:endParaRPr lang="en-US" sz="16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7175" y="2387560"/>
            <a:ext cx="4596051" cy="459605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92405" y="3347859"/>
            <a:ext cx="320278" cy="400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25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2</a:t>
            </a:r>
            <a:endParaRPr lang="en-US" sz="2500" dirty="0"/>
          </a:p>
        </p:txBody>
      </p:sp>
      <p:sp>
        <p:nvSpPr>
          <p:cNvPr id="11" name="Text 7"/>
          <p:cNvSpPr/>
          <p:nvPr/>
        </p:nvSpPr>
        <p:spPr>
          <a:xfrm>
            <a:off x="9934337" y="5329833"/>
            <a:ext cx="2854643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Epistemológico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9934337" y="5815013"/>
            <a:ext cx="3946803" cy="684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Formas de adquirir y enseñar el conocimiento.</a:t>
            </a:r>
            <a:endParaRPr lang="en-US" sz="16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7175" y="2387560"/>
            <a:ext cx="4596051" cy="45960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92405" y="5622786"/>
            <a:ext cx="320278" cy="400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25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3</a:t>
            </a:r>
            <a:endParaRPr lang="en-US" sz="2500" dirty="0"/>
          </a:p>
        </p:txBody>
      </p:sp>
      <p:sp>
        <p:nvSpPr>
          <p:cNvPr id="15" name="Text 10"/>
          <p:cNvSpPr/>
          <p:nvPr/>
        </p:nvSpPr>
        <p:spPr>
          <a:xfrm>
            <a:off x="1841421" y="5329833"/>
            <a:ext cx="2854643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Ciencia y tecnología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749260" y="5815013"/>
            <a:ext cx="3946803" cy="684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Uso de herramientas tecnológicas para el aprendizaje.</a:t>
            </a:r>
            <a:endParaRPr lang="en-US" sz="16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7175" y="2387560"/>
            <a:ext cx="4596051" cy="459605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017478" y="5622786"/>
            <a:ext cx="320278" cy="400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25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4</a:t>
            </a:r>
            <a:endParaRPr lang="en-US" sz="2500" dirty="0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7B861E23-41CC-5FA3-B68E-F596AB1C9A21}"/>
              </a:ext>
            </a:extLst>
          </p:cNvPr>
          <p:cNvSpPr/>
          <p:nvPr/>
        </p:nvSpPr>
        <p:spPr>
          <a:xfrm>
            <a:off x="10490955" y="7468553"/>
            <a:ext cx="3980329" cy="639442"/>
          </a:xfrm>
          <a:prstGeom prst="rect">
            <a:avLst/>
          </a:prstGeom>
          <a:solidFill>
            <a:srgbClr val="5C2438"/>
          </a:solidFill>
          <a:ln>
            <a:solidFill>
              <a:srgbClr val="5C24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35660" y="796052"/>
            <a:ext cx="7645479" cy="142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Paradigmas de la Contemporaneidad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35660" y="2544247"/>
            <a:ext cx="481727" cy="481727"/>
          </a:xfrm>
          <a:prstGeom prst="roundRect">
            <a:avLst>
              <a:gd name="adj" fmla="val 6667"/>
            </a:avLst>
          </a:prstGeom>
          <a:solidFill>
            <a:srgbClr val="4D1529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Text 2"/>
          <p:cNvSpPr/>
          <p:nvPr/>
        </p:nvSpPr>
        <p:spPr>
          <a:xfrm>
            <a:off x="6931462" y="2617827"/>
            <a:ext cx="2854643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Ciencia y tecnología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931462" y="3103007"/>
            <a:ext cx="6949678" cy="34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Incorporación de las últimas herramientas digitales.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235660" y="3873579"/>
            <a:ext cx="481727" cy="481727"/>
          </a:xfrm>
          <a:prstGeom prst="roundRect">
            <a:avLst>
              <a:gd name="adj" fmla="val 6667"/>
            </a:avLst>
          </a:prstGeom>
          <a:solidFill>
            <a:srgbClr val="4D1529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5"/>
          <p:cNvSpPr/>
          <p:nvPr/>
        </p:nvSpPr>
        <p:spPr>
          <a:xfrm>
            <a:off x="6931462" y="3947160"/>
            <a:ext cx="2854643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Globalización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931462" y="4432340"/>
            <a:ext cx="6949678" cy="34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Preparación para un mundo conectado e interdependiente.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6235660" y="5202912"/>
            <a:ext cx="481727" cy="481727"/>
          </a:xfrm>
          <a:prstGeom prst="roundRect">
            <a:avLst>
              <a:gd name="adj" fmla="val 6667"/>
            </a:avLst>
          </a:prstGeom>
          <a:solidFill>
            <a:srgbClr val="4D1529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8"/>
          <p:cNvSpPr/>
          <p:nvPr/>
        </p:nvSpPr>
        <p:spPr>
          <a:xfrm>
            <a:off x="6931462" y="5276493"/>
            <a:ext cx="2919055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Desarrollo sostenible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931462" y="5761673"/>
            <a:ext cx="6949678" cy="34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Compromiso con la protección ambiental.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6235660" y="6532245"/>
            <a:ext cx="481727" cy="481727"/>
          </a:xfrm>
          <a:prstGeom prst="roundRect">
            <a:avLst>
              <a:gd name="adj" fmla="val 6667"/>
            </a:avLst>
          </a:prstGeom>
          <a:solidFill>
            <a:srgbClr val="4D1529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4" name="Text 11"/>
          <p:cNvSpPr/>
          <p:nvPr/>
        </p:nvSpPr>
        <p:spPr>
          <a:xfrm>
            <a:off x="6931462" y="6605826"/>
            <a:ext cx="3037761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Diversidad e inclusión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931462" y="7091005"/>
            <a:ext cx="6949678" cy="34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Valoración y respeto por las diferencias humanas.</a:t>
            </a:r>
            <a:endParaRPr lang="en-US" sz="1650" dirty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9276C7FE-2EFC-505F-7990-977CEB79EE19}"/>
              </a:ext>
            </a:extLst>
          </p:cNvPr>
          <p:cNvSpPr/>
          <p:nvPr/>
        </p:nvSpPr>
        <p:spPr>
          <a:xfrm>
            <a:off x="10490955" y="7468553"/>
            <a:ext cx="3980329" cy="639442"/>
          </a:xfrm>
          <a:prstGeom prst="rect">
            <a:avLst/>
          </a:prstGeom>
          <a:solidFill>
            <a:srgbClr val="5C2438"/>
          </a:solidFill>
          <a:ln>
            <a:solidFill>
              <a:srgbClr val="5C24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35660" y="2963347"/>
            <a:ext cx="6619518" cy="713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Redes del Conocimiento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35660" y="3998000"/>
            <a:ext cx="7645479" cy="684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Conexiones entre personas e instituciones para compartir información.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6235660" y="4923711"/>
            <a:ext cx="7645479" cy="34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Facilitan el acceso y mejoran el aprendizaje colaborativo.</a:t>
            </a:r>
            <a:endParaRPr lang="en-US" sz="1650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DFE0FDF-282C-8ECD-3F7F-602FCC75E460}"/>
              </a:ext>
            </a:extLst>
          </p:cNvPr>
          <p:cNvSpPr/>
          <p:nvPr/>
        </p:nvSpPr>
        <p:spPr>
          <a:xfrm>
            <a:off x="10490955" y="7468553"/>
            <a:ext cx="3980329" cy="639442"/>
          </a:xfrm>
          <a:prstGeom prst="rect">
            <a:avLst/>
          </a:prstGeom>
          <a:solidFill>
            <a:srgbClr val="5C2438"/>
          </a:solidFill>
          <a:ln>
            <a:solidFill>
              <a:srgbClr val="5C24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35660" y="2777847"/>
            <a:ext cx="7645479" cy="142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Desarrollo Humano Integral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35660" y="4526042"/>
            <a:ext cx="7645479" cy="34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Centro de la formación: personas completas, con habilidades y valores.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6235660" y="5109329"/>
            <a:ext cx="7645479" cy="34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Preparación para el trabajo y la vida social responsable.</a:t>
            </a:r>
            <a:endParaRPr lang="en-US" sz="1650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C8384E9-F662-AC1C-E491-39992BD77CA4}"/>
              </a:ext>
            </a:extLst>
          </p:cNvPr>
          <p:cNvSpPr/>
          <p:nvPr/>
        </p:nvSpPr>
        <p:spPr>
          <a:xfrm>
            <a:off x="10490955" y="7468553"/>
            <a:ext cx="3980329" cy="639442"/>
          </a:xfrm>
          <a:prstGeom prst="rect">
            <a:avLst/>
          </a:prstGeom>
          <a:solidFill>
            <a:srgbClr val="5C2438"/>
          </a:solidFill>
          <a:ln>
            <a:solidFill>
              <a:srgbClr val="5C24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260" y="2766179"/>
            <a:ext cx="6529268" cy="713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Modalidades de Estudio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49260" y="4014907"/>
            <a:ext cx="2854643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Presencial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49260" y="4585811"/>
            <a:ext cx="4028599" cy="34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Clases y prácticas en aula y talleres.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5307687" y="4014907"/>
            <a:ext cx="2854643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A distancia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07687" y="4585811"/>
            <a:ext cx="4028599" cy="684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Formación remota con tutorías y recursos digitales.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866114" y="4014907"/>
            <a:ext cx="2854643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Mixta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66114" y="4585811"/>
            <a:ext cx="4028599" cy="684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Combinación de presencial y virtual para mayor flexibilidad.</a:t>
            </a:r>
            <a:endParaRPr lang="en-US" sz="1650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CCA09A2-AAA6-27D0-225A-8B6F203F972D}"/>
              </a:ext>
            </a:extLst>
          </p:cNvPr>
          <p:cNvSpPr/>
          <p:nvPr/>
        </p:nvSpPr>
        <p:spPr>
          <a:xfrm>
            <a:off x="10490955" y="7468553"/>
            <a:ext cx="3980329" cy="639442"/>
          </a:xfrm>
          <a:prstGeom prst="rect">
            <a:avLst/>
          </a:prstGeom>
          <a:solidFill>
            <a:srgbClr val="5C2438"/>
          </a:solidFill>
          <a:ln>
            <a:solidFill>
              <a:srgbClr val="5C24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9260" y="1863685"/>
            <a:ext cx="5709404" cy="713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Resumen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49260" y="2898338"/>
            <a:ext cx="160496" cy="827603"/>
          </a:xfrm>
          <a:prstGeom prst="roundRect">
            <a:avLst>
              <a:gd name="adj" fmla="val 20010"/>
            </a:avLst>
          </a:prstGeom>
          <a:solidFill>
            <a:srgbClr val="4D1529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Text 2"/>
          <p:cNvSpPr/>
          <p:nvPr/>
        </p:nvSpPr>
        <p:spPr>
          <a:xfrm>
            <a:off x="1230868" y="2898338"/>
            <a:ext cx="2854643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Formación Integral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230868" y="3383518"/>
            <a:ext cx="7163872" cy="34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Combinamos teoría, práctica y formación humana.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1070372" y="3940016"/>
            <a:ext cx="160496" cy="827603"/>
          </a:xfrm>
          <a:prstGeom prst="roundRect">
            <a:avLst>
              <a:gd name="adj" fmla="val 20010"/>
            </a:avLst>
          </a:prstGeom>
          <a:solidFill>
            <a:srgbClr val="4D1529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5"/>
          <p:cNvSpPr/>
          <p:nvPr/>
        </p:nvSpPr>
        <p:spPr>
          <a:xfrm>
            <a:off x="1551980" y="3940016"/>
            <a:ext cx="3733324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Competencias y Tecnología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551980" y="4425196"/>
            <a:ext cx="6842760" cy="34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Desarrollamos habilidades laborales con tecnología actual.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1391483" y="4981694"/>
            <a:ext cx="160496" cy="1170027"/>
          </a:xfrm>
          <a:prstGeom prst="roundRect">
            <a:avLst>
              <a:gd name="adj" fmla="val 20010"/>
            </a:avLst>
          </a:prstGeom>
          <a:solidFill>
            <a:srgbClr val="4D1529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8"/>
          <p:cNvSpPr/>
          <p:nvPr/>
        </p:nvSpPr>
        <p:spPr>
          <a:xfrm>
            <a:off x="1873091" y="4981694"/>
            <a:ext cx="3733800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Preparación Laboral y Vital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873091" y="5466874"/>
            <a:ext cx="6521648" cy="684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Formamos para el empleo y la vida en sociedad responsable.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331</Words>
  <Application>Microsoft Office PowerPoint</Application>
  <PresentationFormat>Personalizado</PresentationFormat>
  <Paragraphs>72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Brygada 1918 Bold</vt:lpstr>
      <vt:lpstr>Montserrat Bold</vt:lpstr>
      <vt:lpstr>Montserrat Medium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Administrador</cp:lastModifiedBy>
  <cp:revision>3</cp:revision>
  <dcterms:created xsi:type="dcterms:W3CDTF">2025-05-07T19:52:14Z</dcterms:created>
  <dcterms:modified xsi:type="dcterms:W3CDTF">2025-05-09T19:37:02Z</dcterms:modified>
</cp:coreProperties>
</file>